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57" r:id="rId4"/>
    <p:sldId id="258" r:id="rId5"/>
    <p:sldId id="259" r:id="rId6"/>
    <p:sldId id="260" r:id="rId7"/>
    <p:sldId id="262" r:id="rId8"/>
    <p:sldId id="263" r:id="rId9"/>
    <p:sldId id="264" r:id="rId10"/>
    <p:sldId id="265" r:id="rId11"/>
    <p:sldId id="266" r:id="rId12"/>
    <p:sldId id="269"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FFE7A40-D350-4BC3-90F6-D5D7303F8131}"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A16AC7-CF95-4DCB-AD57-88E9DEAC9C8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729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FE7A40-D350-4BC3-90F6-D5D7303F8131}"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117912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FFE7A40-D350-4BC3-90F6-D5D7303F8131}"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A16AC7-CF95-4DCB-AD57-88E9DEAC9C8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992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FFE7A40-D350-4BC3-90F6-D5D7303F8131}"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3941826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FFE7A40-D350-4BC3-90F6-D5D7303F8131}" type="datetimeFigureOut">
              <a:rPr lang="en-IN" smtClean="0"/>
              <a:t>15-09-2026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1150873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FFE7A40-D350-4BC3-90F6-D5D7303F8131}" type="datetimeFigureOut">
              <a:rPr lang="en-IN" smtClean="0"/>
              <a:t>15-09-2026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2285325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FE7A40-D350-4BC3-90F6-D5D7303F8131}" type="datetimeFigureOut">
              <a:rPr lang="en-IN" smtClean="0"/>
              <a:t>15-09-2026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3705418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FFE7A40-D350-4BC3-90F6-D5D7303F8131}"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2679259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FE7A40-D350-4BC3-90F6-D5D7303F8131}"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A16AC7-CF95-4DCB-AD57-88E9DEAC9C8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886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FE7A40-D350-4BC3-90F6-D5D7303F8131}"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A16AC7-CF95-4DCB-AD57-88E9DEAC9C80}" type="slidenum">
              <a:rPr lang="en-IN" smtClean="0"/>
              <a:t>‹#›</a:t>
            </a:fld>
            <a:endParaRPr lang="en-IN"/>
          </a:p>
        </p:txBody>
      </p:sp>
    </p:spTree>
    <p:extLst>
      <p:ext uri="{BB962C8B-B14F-4D97-AF65-F5344CB8AC3E}">
        <p14:creationId xmlns:p14="http://schemas.microsoft.com/office/powerpoint/2010/main" val="2738349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FE7A40-D350-4BC3-90F6-D5D7303F8131}"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A16AC7-CF95-4DCB-AD57-88E9DEAC9C80}"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350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FFE7A40-D350-4BC3-90F6-D5D7303F8131}" type="datetimeFigureOut">
              <a:rPr lang="en-IN" smtClean="0"/>
              <a:t>15-09-2026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AA16AC7-CF95-4DCB-AD57-88E9DEAC9C80}"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2092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sv-SE" dirty="0"/>
              <a:t>IBM BoB AI Innovation </a:t>
            </a:r>
            <a:r>
              <a:rPr lang="sv-SE" dirty="0" smtClean="0"/>
              <a:t>Hackathon</a:t>
            </a:r>
            <a:endParaRPr lang="en-IN" dirty="0"/>
          </a:p>
        </p:txBody>
      </p:sp>
      <p:sp>
        <p:nvSpPr>
          <p:cNvPr id="3" name="Subtitle 2"/>
          <p:cNvSpPr>
            <a:spLocks noGrp="1"/>
          </p:cNvSpPr>
          <p:nvPr>
            <p:ph type="subTitle" idx="1"/>
          </p:nvPr>
        </p:nvSpPr>
        <p:spPr/>
        <p:txBody>
          <a:bodyPr>
            <a:normAutofit/>
          </a:bodyPr>
          <a:lstStyle/>
          <a:p>
            <a:r>
              <a:rPr lang="en-IN" sz="2800" dirty="0" smtClean="0"/>
              <a:t>Team Name: Arcturus</a:t>
            </a:r>
            <a:endParaRPr lang="en-IN" sz="2800" dirty="0"/>
          </a:p>
        </p:txBody>
      </p:sp>
    </p:spTree>
    <p:extLst>
      <p:ext uri="{BB962C8B-B14F-4D97-AF65-F5344CB8AC3E}">
        <p14:creationId xmlns:p14="http://schemas.microsoft.com/office/powerpoint/2010/main" val="19993679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members</a:t>
            </a:r>
            <a:endParaRPr lang="en-IN" dirty="0"/>
          </a:p>
        </p:txBody>
      </p:sp>
      <p:sp>
        <p:nvSpPr>
          <p:cNvPr id="3" name="Content Placeholder 2"/>
          <p:cNvSpPr>
            <a:spLocks noGrp="1"/>
          </p:cNvSpPr>
          <p:nvPr>
            <p:ph idx="1"/>
          </p:nvPr>
        </p:nvSpPr>
        <p:spPr/>
        <p:txBody>
          <a:bodyPr/>
          <a:lstStyle/>
          <a:p>
            <a:pPr marL="0" indent="0">
              <a:buNone/>
            </a:pPr>
            <a:endParaRPr lang="en-US" dirty="0" smtClean="0"/>
          </a:p>
          <a:p>
            <a:pPr>
              <a:buFont typeface="Wingdings" panose="05000000000000000000" pitchFamily="2" charset="2"/>
              <a:buChar char="Ø"/>
            </a:pPr>
            <a:r>
              <a:rPr lang="en-US" dirty="0" smtClean="0"/>
              <a:t>Team Leader: </a:t>
            </a:r>
          </a:p>
          <a:p>
            <a:pPr lvl="1">
              <a:buFont typeface="Wingdings" panose="05000000000000000000" pitchFamily="2" charset="2"/>
              <a:buChar char="Ø"/>
            </a:pPr>
            <a:r>
              <a:rPr lang="en-US" dirty="0" smtClean="0"/>
              <a:t>Om Patel</a:t>
            </a:r>
          </a:p>
          <a:p>
            <a:pPr lvl="1">
              <a:buFont typeface="Wingdings" panose="05000000000000000000" pitchFamily="2" charset="2"/>
              <a:buChar char="Ø"/>
            </a:pPr>
            <a:endParaRPr lang="en-US" dirty="0"/>
          </a:p>
          <a:p>
            <a:pPr lvl="1">
              <a:buFont typeface="Wingdings" panose="05000000000000000000" pitchFamily="2" charset="2"/>
              <a:buChar char="Ø"/>
            </a:pPr>
            <a:endParaRPr lang="en-IN" dirty="0" smtClean="0"/>
          </a:p>
          <a:p>
            <a:pPr>
              <a:buFont typeface="Wingdings" panose="05000000000000000000" pitchFamily="2" charset="2"/>
              <a:buChar char="Ø"/>
            </a:pPr>
            <a:r>
              <a:rPr lang="en-US" dirty="0" smtClean="0"/>
              <a:t>Team members:</a:t>
            </a:r>
          </a:p>
          <a:p>
            <a:pPr lvl="1">
              <a:buFont typeface="Wingdings" panose="05000000000000000000" pitchFamily="2" charset="2"/>
              <a:buChar char="Ø"/>
            </a:pPr>
            <a:r>
              <a:rPr lang="en-US" dirty="0" err="1" smtClean="0"/>
              <a:t>Gyan</a:t>
            </a:r>
            <a:r>
              <a:rPr lang="en-US" dirty="0" smtClean="0"/>
              <a:t> Patel</a:t>
            </a:r>
          </a:p>
          <a:p>
            <a:pPr lvl="1">
              <a:buFont typeface="Wingdings" panose="05000000000000000000" pitchFamily="2" charset="2"/>
              <a:buChar char="Ø"/>
            </a:pPr>
            <a:r>
              <a:rPr lang="en-US" dirty="0" smtClean="0"/>
              <a:t>Smit </a:t>
            </a:r>
            <a:r>
              <a:rPr lang="en-US" dirty="0" err="1" smtClean="0"/>
              <a:t>Tandel</a:t>
            </a:r>
            <a:endParaRPr lang="en-US" dirty="0" smtClean="0"/>
          </a:p>
          <a:p>
            <a:pPr lvl="1">
              <a:buFont typeface="Wingdings" panose="05000000000000000000" pitchFamily="2" charset="2"/>
              <a:buChar char="Ø"/>
            </a:pPr>
            <a:r>
              <a:rPr lang="en-US" dirty="0" err="1" smtClean="0"/>
              <a:t>Pratham</a:t>
            </a:r>
            <a:r>
              <a:rPr lang="en-US" dirty="0" smtClean="0"/>
              <a:t> Patel</a:t>
            </a:r>
          </a:p>
        </p:txBody>
      </p:sp>
    </p:spTree>
    <p:extLst>
      <p:ext uri="{BB962C8B-B14F-4D97-AF65-F5344CB8AC3E}">
        <p14:creationId xmlns:p14="http://schemas.microsoft.com/office/powerpoint/2010/main" val="35295437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IN" dirty="0"/>
          </a:p>
        </p:txBody>
      </p:sp>
      <p:sp>
        <p:nvSpPr>
          <p:cNvPr id="3" name="Content Placeholder 2"/>
          <p:cNvSpPr>
            <a:spLocks noGrp="1"/>
          </p:cNvSpPr>
          <p:nvPr>
            <p:ph idx="1"/>
          </p:nvPr>
        </p:nvSpPr>
        <p:spPr/>
        <p:txBody>
          <a:bodyPr/>
          <a:lstStyle/>
          <a:p>
            <a:r>
              <a:rPr lang="en-US" dirty="0"/>
              <a:t>During intense storm events across major utility sectors in Gujarat, grid operations desks face extreme visibility issues because live sensor data, localized weather data, and crew logs are completely split across disconnected software tools. When high-voltage infrastructure begins failing under environmental stress, control rooms lack a single unified tool to process real-time satellite captures and calculate immediate equipment threat variables. This missing link forces engineers to act blindly, extends cascade power blackout durations, and leaves emergency field teams stranded in dangerous territory without predictive route profiling.</a:t>
            </a:r>
            <a:endParaRPr lang="en-IN" dirty="0"/>
          </a:p>
        </p:txBody>
      </p:sp>
    </p:spTree>
    <p:extLst>
      <p:ext uri="{BB962C8B-B14F-4D97-AF65-F5344CB8AC3E}">
        <p14:creationId xmlns:p14="http://schemas.microsoft.com/office/powerpoint/2010/main" val="22900277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Solution</a:t>
            </a:r>
            <a:endParaRPr lang="en-IN" dirty="0"/>
          </a:p>
        </p:txBody>
      </p:sp>
      <p:sp>
        <p:nvSpPr>
          <p:cNvPr id="3" name="Content Placeholder 2"/>
          <p:cNvSpPr>
            <a:spLocks noGrp="1"/>
          </p:cNvSpPr>
          <p:nvPr>
            <p:ph idx="1"/>
          </p:nvPr>
        </p:nvSpPr>
        <p:spPr>
          <a:xfrm>
            <a:off x="1024128" y="2286000"/>
            <a:ext cx="9720073" cy="4237630"/>
          </a:xfrm>
        </p:spPr>
        <p:txBody>
          <a:bodyPr/>
          <a:lstStyle/>
          <a:p>
            <a:r>
              <a:rPr lang="en-US" dirty="0"/>
              <a:t>We built </a:t>
            </a:r>
            <a:r>
              <a:rPr lang="en-US" b="1" dirty="0" err="1"/>
              <a:t>GridGuard</a:t>
            </a:r>
            <a:r>
              <a:rPr lang="en-US" dirty="0"/>
              <a:t>, a high-efficiency power management web application running a Django REST Framework backend coupled to an animated Vanilla HTML/CSS/JS topological operations timeline canvas</a:t>
            </a:r>
            <a:r>
              <a:rPr lang="en-US" dirty="0" smtClean="0"/>
              <a:t>.</a:t>
            </a:r>
          </a:p>
          <a:p>
            <a:r>
              <a:rPr lang="en-US" dirty="0"/>
              <a:t>The core system enables operators to drag and drop raw satellite screen captures directly onto the operational interface. The Django application translates the pixel arrays using an offline machine learning logic model (.</a:t>
            </a:r>
            <a:r>
              <a:rPr lang="en-US" dirty="0" err="1"/>
              <a:t>pkl</a:t>
            </a:r>
            <a:r>
              <a:rPr lang="en-US" dirty="0"/>
              <a:t>) to extract instant regional rainfall metrics. Simultaneously, the system queries the live open-source Open-</a:t>
            </a:r>
            <a:r>
              <a:rPr lang="en-US" dirty="0" err="1"/>
              <a:t>Meteo</a:t>
            </a:r>
            <a:r>
              <a:rPr lang="en-US" dirty="0"/>
              <a:t> API using coordinate vectors to inject ambient environmental parameters (wind thresholds and temperatures) straight into a composite asset evaluation calculation</a:t>
            </a:r>
            <a:r>
              <a:rPr lang="en-US" dirty="0" smtClean="0"/>
              <a:t>.</a:t>
            </a:r>
          </a:p>
          <a:p>
            <a:r>
              <a:rPr lang="en-US" dirty="0"/>
              <a:t>This results in an instant 0–100% Outage Risk rating map accompanied by an animated vertical transit pipeline that visually guides emergency crews to high-threat grid components before cascade failures occur.</a:t>
            </a:r>
            <a:endParaRPr lang="en-US" dirty="0"/>
          </a:p>
        </p:txBody>
      </p:sp>
    </p:spTree>
    <p:extLst>
      <p:ext uri="{BB962C8B-B14F-4D97-AF65-F5344CB8AC3E}">
        <p14:creationId xmlns:p14="http://schemas.microsoft.com/office/powerpoint/2010/main" val="6235882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a:t>
            </a:r>
            <a:endParaRPr lang="en-IN" dirty="0"/>
          </a:p>
        </p:txBody>
      </p:sp>
      <p:sp>
        <p:nvSpPr>
          <p:cNvPr id="3" name="Content Placeholder 2"/>
          <p:cNvSpPr>
            <a:spLocks noGrp="1"/>
          </p:cNvSpPr>
          <p:nvPr>
            <p:ph idx="1"/>
          </p:nvPr>
        </p:nvSpPr>
        <p:spPr/>
        <p:txBody>
          <a:bodyPr/>
          <a:lstStyle/>
          <a:p>
            <a:pPr>
              <a:buFont typeface="Courier New" panose="02070309020205020404" pitchFamily="49" charset="0"/>
              <a:buChar char="o"/>
            </a:pPr>
            <a:r>
              <a:rPr lang="en-IN" b="1" dirty="0" smtClean="0"/>
              <a:t> Satellite </a:t>
            </a:r>
            <a:r>
              <a:rPr lang="en-IN" b="1" dirty="0"/>
              <a:t>Image </a:t>
            </a:r>
            <a:r>
              <a:rPr lang="en-IN" b="1" dirty="0" smtClean="0"/>
              <a:t>Inference</a:t>
            </a:r>
            <a:endParaRPr lang="en-IN" b="1" dirty="0"/>
          </a:p>
          <a:p>
            <a:pPr>
              <a:buFont typeface="Courier New" panose="02070309020205020404" pitchFamily="49" charset="0"/>
              <a:buChar char="o"/>
            </a:pPr>
            <a:r>
              <a:rPr lang="en-IN" b="1" dirty="0" smtClean="0"/>
              <a:t> Live </a:t>
            </a:r>
            <a:r>
              <a:rPr lang="en-IN" b="1" dirty="0"/>
              <a:t>Environmental </a:t>
            </a:r>
            <a:r>
              <a:rPr lang="en-IN" b="1" dirty="0" smtClean="0"/>
              <a:t>Synthesis</a:t>
            </a:r>
          </a:p>
          <a:p>
            <a:pPr>
              <a:buFont typeface="Courier New" panose="02070309020205020404" pitchFamily="49" charset="0"/>
              <a:buChar char="o"/>
            </a:pPr>
            <a:r>
              <a:rPr lang="en-IN" b="1" dirty="0" smtClean="0"/>
              <a:t> Proximity </a:t>
            </a:r>
            <a:r>
              <a:rPr lang="en-IN" b="1" dirty="0" err="1"/>
              <a:t>Fallback</a:t>
            </a:r>
            <a:r>
              <a:rPr lang="en-IN" b="1" dirty="0"/>
              <a:t> </a:t>
            </a:r>
            <a:r>
              <a:rPr lang="en-IN" b="1" dirty="0" smtClean="0"/>
              <a:t>Routing</a:t>
            </a:r>
          </a:p>
          <a:p>
            <a:pPr>
              <a:buFont typeface="Courier New" panose="02070309020205020404" pitchFamily="49" charset="0"/>
              <a:buChar char="o"/>
            </a:pPr>
            <a:r>
              <a:rPr lang="en-IN" b="1" dirty="0" smtClean="0"/>
              <a:t> Operator </a:t>
            </a:r>
            <a:r>
              <a:rPr lang="en-IN" b="1" dirty="0"/>
              <a:t>Synchronization </a:t>
            </a:r>
            <a:r>
              <a:rPr lang="en-IN" b="1" dirty="0" smtClean="0"/>
              <a:t>Controls</a:t>
            </a:r>
          </a:p>
          <a:p>
            <a:pPr>
              <a:buFont typeface="Courier New" panose="02070309020205020404" pitchFamily="49" charset="0"/>
              <a:buChar char="o"/>
            </a:pPr>
            <a:r>
              <a:rPr lang="en-IN" b="1" dirty="0" smtClean="0"/>
              <a:t> Animated </a:t>
            </a:r>
            <a:r>
              <a:rPr lang="en-IN" b="1" dirty="0"/>
              <a:t>Transit Pipeline</a:t>
            </a:r>
            <a:endParaRPr lang="en-IN" dirty="0"/>
          </a:p>
        </p:txBody>
      </p:sp>
    </p:spTree>
    <p:extLst>
      <p:ext uri="{BB962C8B-B14F-4D97-AF65-F5344CB8AC3E}">
        <p14:creationId xmlns:p14="http://schemas.microsoft.com/office/powerpoint/2010/main" val="13518787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 Stack</a:t>
            </a:r>
            <a:endParaRPr lang="en-IN" dirty="0"/>
          </a:p>
        </p:txBody>
      </p:sp>
      <p:sp>
        <p:nvSpPr>
          <p:cNvPr id="3" name="Content Placeholder 2"/>
          <p:cNvSpPr>
            <a:spLocks noGrp="1"/>
          </p:cNvSpPr>
          <p:nvPr>
            <p:ph idx="1"/>
          </p:nvPr>
        </p:nvSpPr>
        <p:spPr/>
        <p:txBody>
          <a:bodyPr/>
          <a:lstStyle/>
          <a:p>
            <a:r>
              <a:rPr lang="en-IN" dirty="0" smtClean="0"/>
              <a:t>Category           :	Technologies</a:t>
            </a:r>
            <a:endParaRPr lang="en-IN" dirty="0"/>
          </a:p>
          <a:p>
            <a:r>
              <a:rPr lang="en-IN" dirty="0" smtClean="0"/>
              <a:t>Languages         :</a:t>
            </a:r>
            <a:r>
              <a:rPr lang="en-IN" dirty="0"/>
              <a:t>	</a:t>
            </a:r>
            <a:r>
              <a:rPr lang="en-IN" dirty="0" smtClean="0"/>
              <a:t>Python, </a:t>
            </a:r>
            <a:r>
              <a:rPr lang="en-IN" dirty="0" err="1" smtClean="0"/>
              <a:t>Javascript</a:t>
            </a:r>
            <a:r>
              <a:rPr lang="en-IN" dirty="0" smtClean="0"/>
              <a:t>, HTML, CSS</a:t>
            </a:r>
            <a:endParaRPr lang="en-IN" dirty="0"/>
          </a:p>
          <a:p>
            <a:r>
              <a:rPr lang="en-IN" dirty="0" smtClean="0"/>
              <a:t>Frameworks        :</a:t>
            </a:r>
            <a:r>
              <a:rPr lang="en-IN" dirty="0"/>
              <a:t>	</a:t>
            </a:r>
            <a:r>
              <a:rPr lang="en-IN" dirty="0" smtClean="0"/>
              <a:t>Django</a:t>
            </a:r>
            <a:r>
              <a:rPr lang="en-IN" dirty="0"/>
              <a:t>, Django REST </a:t>
            </a:r>
            <a:r>
              <a:rPr lang="en-IN" dirty="0" smtClean="0"/>
              <a:t>Framework</a:t>
            </a:r>
            <a:endParaRPr lang="en-IN" dirty="0"/>
          </a:p>
          <a:p>
            <a:r>
              <a:rPr lang="en-IN" dirty="0"/>
              <a:t>IBM </a:t>
            </a:r>
            <a:r>
              <a:rPr lang="en-IN" dirty="0" smtClean="0"/>
              <a:t>Technologies :</a:t>
            </a:r>
            <a:r>
              <a:rPr lang="en-IN" dirty="0"/>
              <a:t>	</a:t>
            </a:r>
            <a:r>
              <a:rPr lang="en-IN" dirty="0" smtClean="0"/>
              <a:t>IBM Bob</a:t>
            </a:r>
            <a:endParaRPr lang="en-IN" dirty="0"/>
          </a:p>
          <a:p>
            <a:r>
              <a:rPr lang="en-IN" dirty="0" smtClean="0"/>
              <a:t>Databases	   :        Local </a:t>
            </a:r>
            <a:r>
              <a:rPr lang="en-IN" dirty="0"/>
              <a:t>JSON Data </a:t>
            </a:r>
            <a:r>
              <a:rPr lang="en-IN" dirty="0" smtClean="0"/>
              <a:t>Arrays</a:t>
            </a:r>
            <a:endParaRPr lang="en-IN" dirty="0"/>
          </a:p>
          <a:p>
            <a:r>
              <a:rPr lang="en-IN" dirty="0" smtClean="0"/>
              <a:t>Other                 :</a:t>
            </a:r>
            <a:r>
              <a:rPr lang="en-IN" dirty="0"/>
              <a:t>	</a:t>
            </a:r>
            <a:r>
              <a:rPr lang="en-IN" dirty="0" err="1" smtClean="0"/>
              <a:t>Joblib</a:t>
            </a:r>
            <a:r>
              <a:rPr lang="en-IN" dirty="0"/>
              <a:t>, </a:t>
            </a:r>
            <a:r>
              <a:rPr lang="en-IN" dirty="0" err="1"/>
              <a:t>Scikit</a:t>
            </a:r>
            <a:r>
              <a:rPr lang="en-IN" dirty="0"/>
              <a:t>-Learn, </a:t>
            </a:r>
            <a:r>
              <a:rPr lang="en-IN" dirty="0" err="1"/>
              <a:t>Numpy</a:t>
            </a:r>
            <a:r>
              <a:rPr lang="en-IN" dirty="0"/>
              <a:t>, Pandas, Pillow, Requests, </a:t>
            </a:r>
            <a:r>
              <a:rPr lang="en-IN" dirty="0" err="1" smtClean="0"/>
              <a:t>django</a:t>
            </a:r>
            <a:r>
              <a:rPr lang="en-IN" dirty="0" smtClean="0"/>
              <a:t>-			</a:t>
            </a:r>
            <a:r>
              <a:rPr lang="en-IN" dirty="0" err="1" smtClean="0"/>
              <a:t>cors</a:t>
            </a:r>
            <a:r>
              <a:rPr lang="en-IN" dirty="0" smtClean="0"/>
              <a:t>-headers</a:t>
            </a:r>
            <a:endParaRPr lang="en-IN" dirty="0"/>
          </a:p>
        </p:txBody>
      </p:sp>
    </p:spTree>
    <p:extLst>
      <p:ext uri="{BB962C8B-B14F-4D97-AF65-F5344CB8AC3E}">
        <p14:creationId xmlns:p14="http://schemas.microsoft.com/office/powerpoint/2010/main" val="15819105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Backend</a:t>
            </a:r>
            <a:endParaRPr lang="en-IN" dirty="0"/>
          </a:p>
        </p:txBody>
      </p:sp>
      <p:sp>
        <p:nvSpPr>
          <p:cNvPr id="3" name="Content Placeholder 2"/>
          <p:cNvSpPr>
            <a:spLocks noGrp="1"/>
          </p:cNvSpPr>
          <p:nvPr>
            <p:ph sz="half" idx="1"/>
          </p:nvPr>
        </p:nvSpPr>
        <p:spPr/>
        <p:txBody>
          <a:bodyPr>
            <a:normAutofit lnSpcReduction="10000"/>
          </a:bodyPr>
          <a:lstStyle/>
          <a:p>
            <a:r>
              <a:rPr lang="en-US" dirty="0" smtClean="0"/>
              <a:t>Code:</a:t>
            </a:r>
            <a:br>
              <a:rPr lang="en-US" dirty="0" smtClean="0"/>
            </a:br>
            <a:endParaRPr lang="en-US" dirty="0" smtClean="0"/>
          </a:p>
          <a:p>
            <a:endParaRPr lang="en-IN" dirty="0"/>
          </a:p>
        </p:txBody>
      </p:sp>
      <p:sp>
        <p:nvSpPr>
          <p:cNvPr id="4" name="Content Placeholder 3"/>
          <p:cNvSpPr>
            <a:spLocks noGrp="1"/>
          </p:cNvSpPr>
          <p:nvPr>
            <p:ph sz="half" idx="2"/>
          </p:nvPr>
        </p:nvSpPr>
        <p:spPr/>
        <p:txBody>
          <a:bodyPr>
            <a:normAutofit lnSpcReduction="10000"/>
          </a:bodyPr>
          <a:lstStyle/>
          <a:p>
            <a:r>
              <a:rPr lang="en-US" dirty="0" smtClean="0"/>
              <a:t>Explanation:</a:t>
            </a:r>
          </a:p>
          <a:p>
            <a:endParaRPr lang="en-US" dirty="0" smtClean="0"/>
          </a:p>
          <a:p>
            <a:r>
              <a:rPr lang="en-US" sz="1600" dirty="0" smtClean="0"/>
              <a:t>This part of the code is used to implement </a:t>
            </a:r>
            <a:r>
              <a:rPr lang="en-IN" sz="1600" dirty="0"/>
              <a:t>Satellite Image </a:t>
            </a:r>
            <a:r>
              <a:rPr lang="en-IN" sz="1600" dirty="0" smtClean="0"/>
              <a:t>Inference.</a:t>
            </a:r>
            <a:r>
              <a:rPr lang="en-US" sz="1600" dirty="0"/>
              <a:t> </a:t>
            </a:r>
            <a:endParaRPr lang="en-US" sz="1600" dirty="0" smtClean="0"/>
          </a:p>
          <a:p>
            <a:r>
              <a:rPr lang="en-US" sz="1600" dirty="0" smtClean="0"/>
              <a:t>POST </a:t>
            </a:r>
            <a:r>
              <a:rPr lang="en-US" sz="1600" dirty="0"/>
              <a:t>/</a:t>
            </a:r>
            <a:r>
              <a:rPr lang="en-US" sz="1600" dirty="0" err="1"/>
              <a:t>api</a:t>
            </a:r>
            <a:r>
              <a:rPr lang="en-US" sz="1600" dirty="0"/>
              <a:t>/satellite-scan/ accepts a single .</a:t>
            </a:r>
            <a:r>
              <a:rPr lang="en-US" sz="1600" dirty="0" err="1"/>
              <a:t>tif</a:t>
            </a:r>
            <a:r>
              <a:rPr lang="en-US" sz="1600" dirty="0"/>
              <a:t> image path inside archive.zip. For each of the 18 Gujarat cities, it projects the city's WGS-84 coordinates onto the INSAT-3D raster using the affine constants, averages a 3×3 pixel </a:t>
            </a:r>
            <a:r>
              <a:rPr lang="en-US" sz="1600" dirty="0" err="1"/>
              <a:t>neighbourhood</a:t>
            </a:r>
            <a:r>
              <a:rPr lang="en-US" sz="1600" dirty="0"/>
              <a:t> with </a:t>
            </a:r>
            <a:r>
              <a:rPr lang="en-US" sz="1600" dirty="0" err="1"/>
              <a:t>NumPy</a:t>
            </a:r>
            <a:r>
              <a:rPr lang="en-US" sz="1600" dirty="0"/>
              <a:t>, builds a 5-feature Pandas </a:t>
            </a:r>
            <a:r>
              <a:rPr lang="en-US" sz="1600" dirty="0" err="1"/>
              <a:t>DataFrame</a:t>
            </a:r>
            <a:r>
              <a:rPr lang="en-US" sz="1600" dirty="0"/>
              <a:t>, and runs it through the pre-loaded </a:t>
            </a:r>
            <a:r>
              <a:rPr lang="en-US" sz="1600" dirty="0" err="1"/>
              <a:t>scikit</a:t>
            </a:r>
            <a:r>
              <a:rPr lang="en-US" sz="1600" dirty="0"/>
              <a:t>-learn model (</a:t>
            </a:r>
            <a:r>
              <a:rPr lang="en-US" sz="1600" dirty="0" err="1"/>
              <a:t>joblib.load</a:t>
            </a:r>
            <a:r>
              <a:rPr lang="en-US" sz="1600" dirty="0"/>
              <a:t> at import time — never reloaded per request). Results are sorted by </a:t>
            </a:r>
            <a:r>
              <a:rPr lang="en-US" sz="1600" dirty="0" err="1"/>
              <a:t>predicted_rainfall_mm</a:t>
            </a:r>
            <a:r>
              <a:rPr lang="en-US" sz="1600" dirty="0"/>
              <a:t> descending and tagged with a </a:t>
            </a:r>
            <a:r>
              <a:rPr lang="en-US" sz="1600" dirty="0" err="1"/>
              <a:t>scan_rank</a:t>
            </a:r>
            <a:r>
              <a:rPr lang="en-US" sz="1600" dirty="0"/>
              <a:t>. Per-city errors are caught individually so one bad pixel never aborts the full scan.</a:t>
            </a:r>
            <a:r>
              <a:rPr lang="en-IN" sz="1600" dirty="0" smtClean="0"/>
              <a:t> </a:t>
            </a:r>
            <a:endParaRPr lang="en-IN" sz="1600" dirty="0"/>
          </a:p>
        </p:txBody>
      </p:sp>
      <p:pic>
        <p:nvPicPr>
          <p:cNvPr id="5" name="Picture 4"/>
          <p:cNvPicPr>
            <a:picLocks noChangeAspect="1"/>
          </p:cNvPicPr>
          <p:nvPr/>
        </p:nvPicPr>
        <p:blipFill>
          <a:blip r:embed="rId2"/>
          <a:stretch>
            <a:fillRect/>
          </a:stretch>
        </p:blipFill>
        <p:spPr>
          <a:xfrm>
            <a:off x="444377" y="3027033"/>
            <a:ext cx="5334630" cy="3282327"/>
          </a:xfrm>
          <a:prstGeom prst="rect">
            <a:avLst/>
          </a:prstGeom>
        </p:spPr>
      </p:pic>
    </p:spTree>
    <p:extLst>
      <p:ext uri="{BB962C8B-B14F-4D97-AF65-F5344CB8AC3E}">
        <p14:creationId xmlns:p14="http://schemas.microsoft.com/office/powerpoint/2010/main" val="23809489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backend</a:t>
            </a:r>
            <a:endParaRPr lang="en-IN" dirty="0"/>
          </a:p>
        </p:txBody>
      </p:sp>
      <p:sp>
        <p:nvSpPr>
          <p:cNvPr id="3" name="Content Placeholder 2"/>
          <p:cNvSpPr>
            <a:spLocks noGrp="1"/>
          </p:cNvSpPr>
          <p:nvPr>
            <p:ph sz="half" idx="1"/>
          </p:nvPr>
        </p:nvSpPr>
        <p:spPr/>
        <p:txBody>
          <a:bodyPr>
            <a:normAutofit lnSpcReduction="10000"/>
          </a:bodyPr>
          <a:lstStyle/>
          <a:p>
            <a:r>
              <a:rPr lang="en-US" dirty="0" smtClean="0"/>
              <a:t>Code:</a:t>
            </a:r>
          </a:p>
          <a:p>
            <a:endParaRPr lang="en-IN" dirty="0"/>
          </a:p>
        </p:txBody>
      </p:sp>
      <p:sp>
        <p:nvSpPr>
          <p:cNvPr id="4" name="Content Placeholder 3"/>
          <p:cNvSpPr>
            <a:spLocks noGrp="1"/>
          </p:cNvSpPr>
          <p:nvPr>
            <p:ph sz="half" idx="2"/>
          </p:nvPr>
        </p:nvSpPr>
        <p:spPr/>
        <p:txBody>
          <a:bodyPr>
            <a:normAutofit lnSpcReduction="10000"/>
          </a:bodyPr>
          <a:lstStyle/>
          <a:p>
            <a:r>
              <a:rPr lang="en-US" dirty="0" smtClean="0"/>
              <a:t>Explanation:</a:t>
            </a:r>
          </a:p>
          <a:p>
            <a:r>
              <a:rPr lang="en-US" sz="1600" dirty="0"/>
              <a:t>This part of the code is used to implement Live Environmental </a:t>
            </a:r>
            <a:r>
              <a:rPr lang="en-US" sz="1600" dirty="0" smtClean="0"/>
              <a:t>Synthesis. </a:t>
            </a:r>
          </a:p>
          <a:p>
            <a:r>
              <a:rPr lang="en-US" sz="1600" dirty="0"/>
              <a:t>GET /</a:t>
            </a:r>
            <a:r>
              <a:rPr lang="en-US" sz="1600" dirty="0" err="1"/>
              <a:t>api</a:t>
            </a:r>
            <a:r>
              <a:rPr lang="en-US" sz="1600" dirty="0"/>
              <a:t>/live-environment/ loops every city in _CITY_COORDS, calls </a:t>
            </a:r>
            <a:r>
              <a:rPr lang="en-US" sz="1600" dirty="0" err="1"/>
              <a:t>fetch_live_weather</a:t>
            </a:r>
            <a:r>
              <a:rPr lang="en-US" sz="1600" dirty="0"/>
              <a:t>() which hits the Open-</a:t>
            </a:r>
            <a:r>
              <a:rPr lang="en-US" sz="1600" dirty="0" err="1"/>
              <a:t>Meteo</a:t>
            </a:r>
            <a:r>
              <a:rPr lang="en-US" sz="1600" dirty="0"/>
              <a:t> REST API with a 5-second timeout and never raises (all failures return source: "unavailable"). Each live reading is fed into </a:t>
            </a:r>
            <a:r>
              <a:rPr lang="en-US" sz="1600" dirty="0" err="1"/>
              <a:t>assess_outage_risk</a:t>
            </a:r>
            <a:r>
              <a:rPr lang="en-US" sz="1600" dirty="0"/>
              <a:t>() alongside </a:t>
            </a:r>
            <a:r>
              <a:rPr lang="en-US" sz="1600" dirty="0" err="1"/>
              <a:t>predicted_mm</a:t>
            </a:r>
            <a:r>
              <a:rPr lang="en-US" sz="1600" dirty="0"/>
              <a:t>=0 and </a:t>
            </a:r>
            <a:r>
              <a:rPr lang="en-US" sz="1600" dirty="0" err="1"/>
              <a:t>pixel_intensity</a:t>
            </a:r>
            <a:r>
              <a:rPr lang="en-US" sz="1600" dirty="0"/>
              <a:t>=0, switching the risk scorer into pure live-ambient mode. The scorer blends satellite signals (55 %) with temperature/humidity/wind </a:t>
            </a:r>
            <a:r>
              <a:rPr lang="en-US" sz="1600" dirty="0" err="1"/>
              <a:t>normalised</a:t>
            </a:r>
            <a:r>
              <a:rPr lang="en-US" sz="1600" dirty="0"/>
              <a:t> to 0–100 bands (45 %) against the city's infrastructure telemetry from </a:t>
            </a:r>
            <a:r>
              <a:rPr lang="en-US" sz="1600" dirty="0" err="1"/>
              <a:t>grid_assets.json</a:t>
            </a:r>
            <a:r>
              <a:rPr lang="en-US" sz="1600" dirty="0"/>
              <a:t>. The final list is sorted by </a:t>
            </a:r>
            <a:r>
              <a:rPr lang="en-US" sz="1600" dirty="0" err="1"/>
              <a:t>risk_score_pct</a:t>
            </a:r>
            <a:r>
              <a:rPr lang="en-US" sz="1600" dirty="0"/>
              <a:t> descending. An optional ?city= query </a:t>
            </a:r>
            <a:r>
              <a:rPr lang="en-US" sz="1600" dirty="0" err="1"/>
              <a:t>param</a:t>
            </a:r>
            <a:r>
              <a:rPr lang="en-US" sz="1600" dirty="0"/>
              <a:t> filters by substring.</a:t>
            </a:r>
            <a:endParaRPr lang="en-IN" sz="1600" dirty="0"/>
          </a:p>
        </p:txBody>
      </p:sp>
      <p:pic>
        <p:nvPicPr>
          <p:cNvPr id="5" name="Picture 4"/>
          <p:cNvPicPr>
            <a:picLocks noChangeAspect="1"/>
          </p:cNvPicPr>
          <p:nvPr/>
        </p:nvPicPr>
        <p:blipFill>
          <a:blip r:embed="rId2"/>
          <a:stretch>
            <a:fillRect/>
          </a:stretch>
        </p:blipFill>
        <p:spPr>
          <a:xfrm>
            <a:off x="358492" y="2729367"/>
            <a:ext cx="4538823" cy="3858321"/>
          </a:xfrm>
          <a:prstGeom prst="rect">
            <a:avLst/>
          </a:prstGeom>
        </p:spPr>
      </p:pic>
    </p:spTree>
    <p:extLst>
      <p:ext uri="{BB962C8B-B14F-4D97-AF65-F5344CB8AC3E}">
        <p14:creationId xmlns:p14="http://schemas.microsoft.com/office/powerpoint/2010/main" val="27426619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backend</a:t>
            </a:r>
            <a:endParaRPr lang="en-IN" dirty="0"/>
          </a:p>
        </p:txBody>
      </p:sp>
      <p:sp>
        <p:nvSpPr>
          <p:cNvPr id="3" name="Content Placeholder 2"/>
          <p:cNvSpPr>
            <a:spLocks noGrp="1"/>
          </p:cNvSpPr>
          <p:nvPr>
            <p:ph sz="half" idx="1"/>
          </p:nvPr>
        </p:nvSpPr>
        <p:spPr/>
        <p:txBody>
          <a:bodyPr>
            <a:normAutofit lnSpcReduction="10000"/>
          </a:bodyPr>
          <a:lstStyle/>
          <a:p>
            <a:r>
              <a:rPr lang="en-US" dirty="0" smtClean="0"/>
              <a:t>Code:</a:t>
            </a:r>
          </a:p>
          <a:p>
            <a:endParaRPr lang="en-IN" dirty="0"/>
          </a:p>
        </p:txBody>
      </p:sp>
      <p:sp>
        <p:nvSpPr>
          <p:cNvPr id="4" name="Content Placeholder 3"/>
          <p:cNvSpPr>
            <a:spLocks noGrp="1"/>
          </p:cNvSpPr>
          <p:nvPr>
            <p:ph sz="half" idx="2"/>
          </p:nvPr>
        </p:nvSpPr>
        <p:spPr/>
        <p:txBody>
          <a:bodyPr>
            <a:normAutofit lnSpcReduction="10000"/>
          </a:bodyPr>
          <a:lstStyle/>
          <a:p>
            <a:r>
              <a:rPr lang="en-US" dirty="0" smtClean="0"/>
              <a:t>Explanation:</a:t>
            </a:r>
          </a:p>
          <a:p>
            <a:endParaRPr lang="en-US" sz="1600" dirty="0" smtClean="0"/>
          </a:p>
          <a:p>
            <a:r>
              <a:rPr lang="en-US" sz="1600" dirty="0" smtClean="0"/>
              <a:t>This </a:t>
            </a:r>
            <a:r>
              <a:rPr lang="en-US" sz="1600" dirty="0"/>
              <a:t>part of the code is used to implement Proximity Fallback </a:t>
            </a:r>
            <a:r>
              <a:rPr lang="en-US" sz="1600" dirty="0" smtClean="0"/>
              <a:t>Routing.</a:t>
            </a:r>
          </a:p>
          <a:p>
            <a:r>
              <a:rPr lang="en-US" sz="1600" dirty="0"/>
              <a:t>GET /</a:t>
            </a:r>
            <a:r>
              <a:rPr lang="en-US" sz="1600" dirty="0" err="1"/>
              <a:t>api</a:t>
            </a:r>
            <a:r>
              <a:rPr lang="en-US" sz="1600" dirty="0"/>
              <a:t>/proximity-fallback/?city=&lt;name&gt; routes any city through </a:t>
            </a:r>
            <a:r>
              <a:rPr lang="en-US" sz="1600" dirty="0" err="1"/>
              <a:t>assess_outage_risk</a:t>
            </a:r>
            <a:r>
              <a:rPr lang="en-US" sz="1600" dirty="0"/>
              <a:t>(). Inside that function, _</a:t>
            </a:r>
            <a:r>
              <a:rPr lang="en-US" sz="1600" dirty="0" err="1"/>
              <a:t>build_city_profiles</a:t>
            </a:r>
            <a:r>
              <a:rPr lang="en-US" sz="1600" dirty="0"/>
              <a:t>() groups </a:t>
            </a:r>
            <a:r>
              <a:rPr lang="en-US" sz="1600" dirty="0" err="1"/>
              <a:t>grid_assets.json</a:t>
            </a:r>
            <a:r>
              <a:rPr lang="en-US" sz="1600" dirty="0"/>
              <a:t> entries by city and averages their telemetry. If the requested city is absent from those profiles, _</a:t>
            </a:r>
            <a:r>
              <a:rPr lang="en-US" sz="1600" dirty="0" err="1"/>
              <a:t>find_nearest_city</a:t>
            </a:r>
            <a:r>
              <a:rPr lang="en-US" sz="1600" dirty="0"/>
              <a:t>() computes the </a:t>
            </a:r>
            <a:r>
              <a:rPr lang="en-US" sz="1600" dirty="0" err="1"/>
              <a:t>Haversine</a:t>
            </a:r>
            <a:r>
              <a:rPr lang="en-US" sz="1600" dirty="0"/>
              <a:t> great-circle distance (in km) from the requested city's coordinates to every city that does have data, and picks the closest. The </a:t>
            </a:r>
            <a:r>
              <a:rPr lang="en-US" sz="1600" dirty="0" err="1"/>
              <a:t>risk_source</a:t>
            </a:r>
            <a:r>
              <a:rPr lang="en-US" sz="1600" dirty="0"/>
              <a:t> key in the response tells the caller whether an exact match or a proximity fallback was used — e.g. "Nearest Proximity Fallback [Rajkot]". The view surfaces this as </a:t>
            </a:r>
            <a:r>
              <a:rPr lang="en-US" sz="1600" dirty="0" err="1"/>
              <a:t>fallback_used</a:t>
            </a:r>
            <a:r>
              <a:rPr lang="en-US" sz="1600" dirty="0"/>
              <a:t>: true/false and a human-readable </a:t>
            </a:r>
            <a:r>
              <a:rPr lang="en-US" sz="1600" dirty="0" err="1"/>
              <a:t>distance_note</a:t>
            </a:r>
            <a:r>
              <a:rPr lang="en-US" sz="1600" dirty="0"/>
              <a:t>.</a:t>
            </a:r>
            <a:endParaRPr lang="en-IN" sz="1600" dirty="0"/>
          </a:p>
        </p:txBody>
      </p:sp>
      <p:pic>
        <p:nvPicPr>
          <p:cNvPr id="5" name="Picture 4"/>
          <p:cNvPicPr>
            <a:picLocks noChangeAspect="1"/>
          </p:cNvPicPr>
          <p:nvPr/>
        </p:nvPicPr>
        <p:blipFill>
          <a:blip r:embed="rId2"/>
          <a:stretch>
            <a:fillRect/>
          </a:stretch>
        </p:blipFill>
        <p:spPr>
          <a:xfrm>
            <a:off x="467407" y="3235430"/>
            <a:ext cx="5311600" cy="3200677"/>
          </a:xfrm>
          <a:prstGeom prst="rect">
            <a:avLst/>
          </a:prstGeom>
        </p:spPr>
      </p:pic>
    </p:spTree>
    <p:extLst>
      <p:ext uri="{BB962C8B-B14F-4D97-AF65-F5344CB8AC3E}">
        <p14:creationId xmlns:p14="http://schemas.microsoft.com/office/powerpoint/2010/main" val="39671671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Backend</a:t>
            </a:r>
            <a:endParaRPr lang="en-IN" dirty="0"/>
          </a:p>
        </p:txBody>
      </p:sp>
      <p:sp>
        <p:nvSpPr>
          <p:cNvPr id="3" name="Content Placeholder 2"/>
          <p:cNvSpPr>
            <a:spLocks noGrp="1"/>
          </p:cNvSpPr>
          <p:nvPr>
            <p:ph sz="half" idx="1"/>
          </p:nvPr>
        </p:nvSpPr>
        <p:spPr/>
        <p:txBody>
          <a:bodyPr>
            <a:normAutofit lnSpcReduction="10000"/>
          </a:bodyPr>
          <a:lstStyle/>
          <a:p>
            <a:r>
              <a:rPr lang="en-US" dirty="0" smtClean="0"/>
              <a:t>Code:</a:t>
            </a:r>
          </a:p>
          <a:p>
            <a:endParaRPr lang="en-IN" dirty="0"/>
          </a:p>
        </p:txBody>
      </p:sp>
      <p:sp>
        <p:nvSpPr>
          <p:cNvPr id="4" name="Content Placeholder 3"/>
          <p:cNvSpPr>
            <a:spLocks noGrp="1"/>
          </p:cNvSpPr>
          <p:nvPr>
            <p:ph sz="half" idx="2"/>
          </p:nvPr>
        </p:nvSpPr>
        <p:spPr/>
        <p:txBody>
          <a:bodyPr>
            <a:normAutofit lnSpcReduction="10000"/>
          </a:bodyPr>
          <a:lstStyle/>
          <a:p>
            <a:r>
              <a:rPr lang="en-US" dirty="0" smtClean="0"/>
              <a:t>Explanation:</a:t>
            </a:r>
          </a:p>
          <a:p>
            <a:r>
              <a:rPr lang="en-US" sz="1600" dirty="0"/>
              <a:t>This part of the code is used to implement Operator Synchronization Controls</a:t>
            </a:r>
          </a:p>
          <a:p>
            <a:r>
              <a:rPr lang="en-US" sz="1600" dirty="0" smtClean="0"/>
              <a:t>A </a:t>
            </a:r>
            <a:r>
              <a:rPr lang="en-US" sz="1600" dirty="0"/>
              <a:t>single DRF view function at POST /GET /PATCH /</a:t>
            </a:r>
            <a:r>
              <a:rPr lang="en-US" sz="1600" dirty="0" err="1"/>
              <a:t>api</a:t>
            </a:r>
            <a:r>
              <a:rPr lang="en-US" sz="1600" dirty="0"/>
              <a:t>/operator-sync/ maintains a live field-operator registry entirely in-process using a plain Python </a:t>
            </a:r>
            <a:r>
              <a:rPr lang="en-US" sz="1600" dirty="0" err="1"/>
              <a:t>dict</a:t>
            </a:r>
            <a:r>
              <a:rPr lang="en-US" sz="1600" dirty="0"/>
              <a:t> (_OPERATOR_REGISTRY) protected by a </a:t>
            </a:r>
            <a:r>
              <a:rPr lang="en-US" sz="1600" dirty="0" err="1"/>
              <a:t>threading.Lock</a:t>
            </a:r>
            <a:r>
              <a:rPr lang="en-US" sz="1600" dirty="0"/>
              <a:t>. GET returns all registered operators sorted by </a:t>
            </a:r>
            <a:r>
              <a:rPr lang="en-US" sz="1600" dirty="0" err="1"/>
              <a:t>last_sync</a:t>
            </a:r>
            <a:r>
              <a:rPr lang="en-US" sz="1600" dirty="0"/>
              <a:t> timestamp, with an optional ?zone= filter. POST registers a new operator, setting their initial status to "active" and stamping a UTC ISO 8601 </a:t>
            </a:r>
            <a:r>
              <a:rPr lang="en-US" sz="1600" dirty="0" err="1"/>
              <a:t>last_sync</a:t>
            </a:r>
            <a:r>
              <a:rPr lang="en-US" sz="1600" dirty="0"/>
              <a:t>. PATCH updates only status (validated against the four allowed values: active, standby, dispatched, offline) and/or notes, refreshing </a:t>
            </a:r>
            <a:r>
              <a:rPr lang="en-US" sz="1600" dirty="0" err="1"/>
              <a:t>last_sync</a:t>
            </a:r>
            <a:r>
              <a:rPr lang="en-US" sz="1600" dirty="0"/>
              <a:t> on every write. All three branches acquire the lock before reading or mutating the shared </a:t>
            </a:r>
            <a:r>
              <a:rPr lang="en-US" sz="1600" dirty="0" err="1"/>
              <a:t>dict</a:t>
            </a:r>
            <a:r>
              <a:rPr lang="en-US" sz="1600" dirty="0"/>
              <a:t> so concurrent Django worker threads cannot race.</a:t>
            </a:r>
            <a:endParaRPr lang="en-IN" sz="1600" dirty="0"/>
          </a:p>
        </p:txBody>
      </p:sp>
      <p:pic>
        <p:nvPicPr>
          <p:cNvPr id="5" name="Picture 4"/>
          <p:cNvPicPr>
            <a:picLocks noChangeAspect="1"/>
          </p:cNvPicPr>
          <p:nvPr/>
        </p:nvPicPr>
        <p:blipFill>
          <a:blip r:embed="rId2"/>
          <a:stretch>
            <a:fillRect/>
          </a:stretch>
        </p:blipFill>
        <p:spPr>
          <a:xfrm>
            <a:off x="298383" y="2693090"/>
            <a:ext cx="5126471" cy="3936512"/>
          </a:xfrm>
          <a:prstGeom prst="rect">
            <a:avLst/>
          </a:prstGeom>
        </p:spPr>
      </p:pic>
    </p:spTree>
    <p:extLst>
      <p:ext uri="{BB962C8B-B14F-4D97-AF65-F5344CB8AC3E}">
        <p14:creationId xmlns:p14="http://schemas.microsoft.com/office/powerpoint/2010/main" val="28269736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Backend</a:t>
            </a:r>
            <a:endParaRPr lang="en-IN" dirty="0"/>
          </a:p>
        </p:txBody>
      </p:sp>
      <p:sp>
        <p:nvSpPr>
          <p:cNvPr id="3" name="Content Placeholder 2"/>
          <p:cNvSpPr>
            <a:spLocks noGrp="1"/>
          </p:cNvSpPr>
          <p:nvPr>
            <p:ph sz="half" idx="1"/>
          </p:nvPr>
        </p:nvSpPr>
        <p:spPr/>
        <p:txBody>
          <a:bodyPr>
            <a:normAutofit lnSpcReduction="10000"/>
          </a:bodyPr>
          <a:lstStyle/>
          <a:p>
            <a:r>
              <a:rPr lang="en-US" dirty="0" smtClean="0"/>
              <a:t>Code:</a:t>
            </a:r>
          </a:p>
          <a:p>
            <a:endParaRPr lang="en-IN" dirty="0"/>
          </a:p>
        </p:txBody>
      </p:sp>
      <p:sp>
        <p:nvSpPr>
          <p:cNvPr id="4" name="Content Placeholder 3"/>
          <p:cNvSpPr>
            <a:spLocks noGrp="1"/>
          </p:cNvSpPr>
          <p:nvPr>
            <p:ph sz="half" idx="2"/>
          </p:nvPr>
        </p:nvSpPr>
        <p:spPr/>
        <p:txBody>
          <a:bodyPr>
            <a:normAutofit lnSpcReduction="10000"/>
          </a:bodyPr>
          <a:lstStyle/>
          <a:p>
            <a:r>
              <a:rPr lang="en-US" dirty="0" smtClean="0"/>
              <a:t>Explanation:</a:t>
            </a:r>
          </a:p>
          <a:p>
            <a:r>
              <a:rPr lang="en-US" sz="1400" dirty="0"/>
              <a:t>This part of the code is used to implement Animated Transit </a:t>
            </a:r>
            <a:r>
              <a:rPr lang="en-US" sz="1400" dirty="0" smtClean="0"/>
              <a:t>Pipeline.</a:t>
            </a:r>
            <a:br>
              <a:rPr lang="en-US" sz="1400" dirty="0" smtClean="0"/>
            </a:br>
            <a:endParaRPr lang="en-IN" sz="1400" dirty="0" smtClean="0"/>
          </a:p>
          <a:p>
            <a:r>
              <a:rPr lang="en-US" sz="1400" dirty="0"/>
              <a:t>GET /</a:t>
            </a:r>
            <a:r>
              <a:rPr lang="en-US" sz="1400" dirty="0" err="1"/>
              <a:t>api</a:t>
            </a:r>
            <a:r>
              <a:rPr lang="en-US" sz="1400" dirty="0"/>
              <a:t>/pipeline/ returns the live state of all 6 processing stages (</a:t>
            </a:r>
            <a:r>
              <a:rPr lang="en-US" sz="1400" dirty="0" err="1"/>
              <a:t>data_ingestion</a:t>
            </a:r>
            <a:r>
              <a:rPr lang="en-US" sz="1400" dirty="0"/>
              <a:t> → </a:t>
            </a:r>
            <a:r>
              <a:rPr lang="en-US" sz="1400" dirty="0" err="1"/>
              <a:t>satellite_preprocessing</a:t>
            </a:r>
            <a:r>
              <a:rPr lang="en-US" sz="1400" dirty="0"/>
              <a:t> → </a:t>
            </a:r>
            <a:r>
              <a:rPr lang="en-US" sz="1400" dirty="0" err="1"/>
              <a:t>ml_inference</a:t>
            </a:r>
            <a:r>
              <a:rPr lang="en-US" sz="1400" dirty="0"/>
              <a:t> → </a:t>
            </a:r>
            <a:r>
              <a:rPr lang="en-US" sz="1400" dirty="0" err="1"/>
              <a:t>live_weather_fetch</a:t>
            </a:r>
            <a:r>
              <a:rPr lang="en-US" sz="1400" dirty="0"/>
              <a:t> → </a:t>
            </a:r>
            <a:r>
              <a:rPr lang="en-US" sz="1400" dirty="0" err="1"/>
              <a:t>risk_scoring</a:t>
            </a:r>
            <a:r>
              <a:rPr lang="en-US" sz="1400" dirty="0"/>
              <a:t> → </a:t>
            </a:r>
            <a:r>
              <a:rPr lang="en-US" sz="1400" dirty="0" err="1"/>
              <a:t>output_dispatch</a:t>
            </a:r>
            <a:r>
              <a:rPr lang="en-US" sz="1400" dirty="0"/>
              <a:t>), each carrying status, </a:t>
            </a:r>
            <a:r>
              <a:rPr lang="en-US" sz="1400" dirty="0" err="1"/>
              <a:t>progress_pct</a:t>
            </a:r>
            <a:r>
              <a:rPr lang="en-US" sz="1400" dirty="0"/>
              <a:t> (0–100), and a message. The state is held in the module-level _PIPELINE_STATE </a:t>
            </a:r>
            <a:r>
              <a:rPr lang="en-US" sz="1400" dirty="0" err="1"/>
              <a:t>dict</a:t>
            </a:r>
            <a:r>
              <a:rPr lang="en-US" sz="1400" dirty="0"/>
              <a:t> protected by </a:t>
            </a:r>
            <a:r>
              <a:rPr lang="en-US" sz="1400" dirty="0" err="1"/>
              <a:t>threading.Lock</a:t>
            </a:r>
            <a:r>
              <a:rPr lang="en-US" sz="1400" dirty="0"/>
              <a:t>. A frontend can poll this endpoint on any interval and drive animated progress bars directly from </a:t>
            </a:r>
            <a:r>
              <a:rPr lang="en-US" sz="1400" dirty="0" err="1"/>
              <a:t>progress_pct</a:t>
            </a:r>
            <a:r>
              <a:rPr lang="en-US" sz="1400" dirty="0"/>
              <a:t> and </a:t>
            </a:r>
            <a:r>
              <a:rPr lang="en-US" sz="1400" dirty="0" err="1"/>
              <a:t>colour</a:t>
            </a:r>
            <a:r>
              <a:rPr lang="en-US" sz="1400" dirty="0"/>
              <a:t> coding from status. POST /</a:t>
            </a:r>
            <a:r>
              <a:rPr lang="en-US" sz="1400" dirty="0" err="1"/>
              <a:t>api</a:t>
            </a:r>
            <a:r>
              <a:rPr lang="en-US" sz="1400" dirty="0"/>
              <a:t>/pipeline/ with { "action": "reset" } wipes all stages back to idle. A targeted POST with { "stage": "</a:t>
            </a:r>
            <a:r>
              <a:rPr lang="en-US" sz="1400" dirty="0" err="1"/>
              <a:t>ml_inference</a:t>
            </a:r>
            <a:r>
              <a:rPr lang="en-US" sz="1400" dirty="0"/>
              <a:t>", "status": "running", "</a:t>
            </a:r>
            <a:r>
              <a:rPr lang="en-US" sz="1400" dirty="0" err="1"/>
              <a:t>progress_pct</a:t>
            </a:r>
            <a:r>
              <a:rPr lang="en-US" sz="1400" dirty="0"/>
              <a:t>": 60 } advances exactly one stage — both the stage name and status are validated against allowed sets, and </a:t>
            </a:r>
            <a:r>
              <a:rPr lang="en-US" sz="1400" dirty="0" err="1"/>
              <a:t>progress_pct</a:t>
            </a:r>
            <a:r>
              <a:rPr lang="en-US" sz="1400" dirty="0"/>
              <a:t> is auto-defaulted (50 for running, 100 for complete, 0 otherwise) if not provided.</a:t>
            </a:r>
            <a:endParaRPr lang="en-US" sz="1400" dirty="0" smtClean="0"/>
          </a:p>
        </p:txBody>
      </p:sp>
      <p:pic>
        <p:nvPicPr>
          <p:cNvPr id="5" name="Picture 4"/>
          <p:cNvPicPr>
            <a:picLocks noChangeAspect="1"/>
          </p:cNvPicPr>
          <p:nvPr/>
        </p:nvPicPr>
        <p:blipFill>
          <a:blip r:embed="rId2"/>
          <a:stretch>
            <a:fillRect/>
          </a:stretch>
        </p:blipFill>
        <p:spPr>
          <a:xfrm>
            <a:off x="307373" y="2732055"/>
            <a:ext cx="4686658" cy="3864208"/>
          </a:xfrm>
          <a:prstGeom prst="rect">
            <a:avLst/>
          </a:prstGeom>
        </p:spPr>
      </p:pic>
    </p:spTree>
    <p:extLst>
      <p:ext uri="{BB962C8B-B14F-4D97-AF65-F5344CB8AC3E}">
        <p14:creationId xmlns:p14="http://schemas.microsoft.com/office/powerpoint/2010/main" val="27581190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IN" dirty="0"/>
          </a:p>
        </p:txBody>
      </p:sp>
      <p:sp>
        <p:nvSpPr>
          <p:cNvPr id="3" name="Content Placeholder 2"/>
          <p:cNvSpPr>
            <a:spLocks noGrp="1"/>
          </p:cNvSpPr>
          <p:nvPr>
            <p:ph idx="1"/>
          </p:nvPr>
        </p:nvSpPr>
        <p:spPr/>
        <p:txBody>
          <a:bodyPr/>
          <a:lstStyle/>
          <a:p>
            <a:r>
              <a:rPr lang="en-US" b="1" dirty="0" err="1"/>
              <a:t>GridGuard</a:t>
            </a:r>
            <a:r>
              <a:rPr lang="en-US" dirty="0"/>
              <a:t> transforms storm-time power-grid management from a fragmented, reactive process into a </a:t>
            </a:r>
            <a:r>
              <a:rPr lang="en-US" b="1" dirty="0"/>
              <a:t>unified, data-driven, and predictive response system</a:t>
            </a:r>
            <a:r>
              <a:rPr lang="en-US" dirty="0"/>
              <a:t>. By combining satellite image inference, live weather data, historical proximity-based data, and asset-risk analysis through a Django-powered platform, it provides operators with an immediate </a:t>
            </a:r>
            <a:r>
              <a:rPr lang="en-US" b="1" dirty="0"/>
              <a:t>0–100% outage-risk assessment</a:t>
            </a:r>
            <a:r>
              <a:rPr lang="en-US" dirty="0"/>
              <a:t> for vulnerable grid components. Its synchronized controls and visual emergency transit pipeline further help field teams prioritize high-risk locations and respond more effectively.</a:t>
            </a:r>
          </a:p>
          <a:p>
            <a:r>
              <a:rPr lang="en-US" dirty="0"/>
              <a:t>Overall, </a:t>
            </a:r>
            <a:r>
              <a:rPr lang="en-US" dirty="0" err="1"/>
              <a:t>GridGuard</a:t>
            </a:r>
            <a:r>
              <a:rPr lang="en-US" dirty="0"/>
              <a:t> bridges the gap between </a:t>
            </a:r>
            <a:r>
              <a:rPr lang="en-US" b="1" dirty="0"/>
              <a:t>weather intelligence, infrastructure monitoring, and emergency field response</a:t>
            </a:r>
            <a:r>
              <a:rPr lang="en-US" dirty="0"/>
              <a:t>, helping utilities </a:t>
            </a:r>
            <a:r>
              <a:rPr lang="en-US" b="1" dirty="0"/>
              <a:t>detect threats earlier, reduce potential cascading outages, improve response coordination, and enhance crew safety during extreme weather events</a:t>
            </a:r>
            <a:r>
              <a:rPr lang="en-US" dirty="0"/>
              <a:t>.</a:t>
            </a:r>
          </a:p>
        </p:txBody>
      </p:sp>
    </p:spTree>
    <p:extLst>
      <p:ext uri="{BB962C8B-B14F-4D97-AF65-F5344CB8AC3E}">
        <p14:creationId xmlns:p14="http://schemas.microsoft.com/office/powerpoint/2010/main" val="38804646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4830711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58</TotalTime>
  <Words>802</Words>
  <Application>Microsoft Office PowerPoint</Application>
  <PresentationFormat>Widescreen</PresentationFormat>
  <Paragraphs>62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Courier New</vt:lpstr>
      <vt:lpstr>Tw Cen MT</vt:lpstr>
      <vt:lpstr>Tw Cen MT Condensed</vt:lpstr>
      <vt:lpstr>Wingdings</vt:lpstr>
      <vt:lpstr>Wingdings 3</vt:lpstr>
      <vt:lpstr>Integral</vt:lpstr>
      <vt:lpstr>IBM BoB AI Innovation Hackathon</vt:lpstr>
      <vt:lpstr>Team members</vt:lpstr>
      <vt:lpstr>Problem Statement</vt:lpstr>
      <vt:lpstr>Proposed Solution</vt:lpstr>
      <vt:lpstr>Key features</vt:lpstr>
      <vt:lpstr>Tech Stack</vt:lpstr>
      <vt:lpstr>Backend</vt:lpstr>
      <vt:lpstr>backend</vt:lpstr>
      <vt:lpstr>backend</vt:lpstr>
      <vt:lpstr>Backend</vt:lpstr>
      <vt:lpstr>Backend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BoB AI Innovation Hackathon</dc:title>
  <dc:creator>LENOVO</dc:creator>
  <cp:lastModifiedBy>LENOVO</cp:lastModifiedBy>
  <cp:revision>5</cp:revision>
  <dcterms:created xsi:type="dcterms:W3CDTF">2026-09-15T16:02:25Z</dcterms:created>
  <dcterms:modified xsi:type="dcterms:W3CDTF">2026-09-15T17:01:22Z</dcterms:modified>
</cp:coreProperties>
</file>